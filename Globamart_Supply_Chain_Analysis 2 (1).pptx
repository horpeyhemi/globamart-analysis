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3B0764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CHAIN ANALYSIS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77240" y="26974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GLOBAMART</a:t>
            </a:r>
            <a:endParaRPr i="0" sz="6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2000"/>
              <a:buFont typeface="Calibri"/>
              <a:buNone/>
            </a:pPr>
            <a:r>
              <a:rPr i="1" lang="en-US" sz="2000" u="none" cap="none" strike="noStrike">
                <a:solidFill>
                  <a:srgbClr val="D8B4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Performance, Delivery &amp; Profitability Insights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22960" y="470916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r>
              <a:rPr b="1" i="0" lang="en-US" sz="160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Rahman Azeezat Taiwo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July, </a:t>
            </a:r>
            <a:r>
              <a:rPr b="1" i="0" lang="en-US" sz="150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 b="1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Problem Overview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874520"/>
            <a:ext cx="2606040" cy="2834640"/>
          </a:xfrm>
          <a:prstGeom prst="roundRect">
            <a:avLst>
              <a:gd fmla="val 4211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85800" y="219456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65%</a:t>
            </a:r>
            <a:endParaRPr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85800" y="31089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 Delivery Rate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36576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vs. only 35% On-Time Rate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410712" y="1874520"/>
            <a:ext cx="2606040" cy="2834640"/>
          </a:xfrm>
          <a:prstGeom prst="roundRect">
            <a:avLst>
              <a:gd fmla="val 4211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547872" y="219456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days</a:t>
            </a:r>
            <a:endParaRPr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547872" y="31089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Avg. Shipping Time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547872" y="36576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Slower fulfillment across regions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272784" y="1874520"/>
            <a:ext cx="2606040" cy="2834640"/>
          </a:xfrm>
          <a:prstGeom prst="roundRect">
            <a:avLst>
              <a:gd fmla="val 4211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409944" y="219456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21K</a:t>
            </a:r>
            <a:endParaRPr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9944" y="31089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Damaged Goods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9944" y="36576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Units affected across categories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134856" y="1874520"/>
            <a:ext cx="2606040" cy="2834640"/>
          </a:xfrm>
          <a:prstGeom prst="roundRect">
            <a:avLst>
              <a:gd fmla="val 4211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272016" y="219456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endParaRPr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272016" y="31089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vs. Orders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272016" y="36576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mismatch, all categories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5029200"/>
            <a:ext cx="11192256" cy="1051560"/>
          </a:xfrm>
          <a:prstGeom prst="roundRect">
            <a:avLst>
              <a:gd fmla="val 10435" name="adj"/>
            </a:avLst>
          </a:prstGeom>
          <a:solidFill>
            <a:srgbClr val="3B0764"/>
          </a:solidFill>
          <a:ln cap="flat" cmpd="sng" w="12700">
            <a:solidFill>
              <a:srgbClr val="3B0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22960" y="5175504"/>
            <a:ext cx="106436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</a:t>
            </a: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i="0" lang="en-US" sz="1400" u="none" cap="none" strike="noStrike">
                <a:solidFill>
                  <a:srgbClr val="EDE4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root causes in delivery, profitability, and inventory to improve Globamart's supply chain performance.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</a:t>
            </a:r>
            <a:r>
              <a:rPr b="1" lang="en-US" sz="1300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DID WE</a:t>
            </a: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r>
              <a:rPr b="1" lang="en-US" sz="1300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HERE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04672" y="2171700"/>
            <a:ext cx="640080" cy="640080"/>
          </a:xfrm>
          <a:prstGeom prst="ellipse">
            <a:avLst/>
          </a:prstGeom>
          <a:solidFill>
            <a:srgbClr val="3B0764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804672" y="21717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960"/>
              <a:buFont typeface="Arial"/>
              <a:buNone/>
            </a:pPr>
            <a:r>
              <a:rPr b="1" i="0" lang="en-US" sz="196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i="0" sz="196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783080" y="21031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783080" y="253288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 — cleaned, transformed, and created calculated columns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1124712" y="3035808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6D28D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1" name="Google Shape;61;p5"/>
          <p:cNvSpPr/>
          <p:nvPr/>
        </p:nvSpPr>
        <p:spPr>
          <a:xfrm>
            <a:off x="548640" y="3182112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04672" y="3387852"/>
            <a:ext cx="640080" cy="640080"/>
          </a:xfrm>
          <a:prstGeom prst="ellipse">
            <a:avLst/>
          </a:prstGeom>
          <a:solidFill>
            <a:srgbClr val="3B0764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04672" y="338785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960"/>
              <a:buFont typeface="Arial"/>
              <a:buNone/>
            </a:pPr>
            <a:r>
              <a:rPr b="1" i="0" lang="en-US" sz="196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0" sz="196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783080" y="331927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783080" y="374904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 — built interactive dashboards for Supply Chain and Profitability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1124712" y="4251960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6D28D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7" name="Google Shape;67;p5"/>
          <p:cNvSpPr/>
          <p:nvPr/>
        </p:nvSpPr>
        <p:spPr>
          <a:xfrm>
            <a:off x="548640" y="4398264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04672" y="4604004"/>
            <a:ext cx="640080" cy="640080"/>
          </a:xfrm>
          <a:prstGeom prst="ellipse">
            <a:avLst/>
          </a:prstGeom>
          <a:solidFill>
            <a:srgbClr val="3B0764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04672" y="4604004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960"/>
              <a:buFont typeface="Arial"/>
              <a:buNone/>
            </a:pPr>
            <a:r>
              <a:rPr b="1" i="0" lang="en-US" sz="196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0" sz="196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783080" y="4535424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783080" y="4965192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Derived insights on Delivery, Profit, Inventory, and Trends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" name="Google Shape;72;p5"/>
          <p:cNvCxnSpPr/>
          <p:nvPr/>
        </p:nvCxnSpPr>
        <p:spPr>
          <a:xfrm>
            <a:off x="1124712" y="5468112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6D28D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3" name="Google Shape;73;p5"/>
          <p:cNvSpPr/>
          <p:nvPr/>
        </p:nvSpPr>
        <p:spPr>
          <a:xfrm>
            <a:off x="548640" y="5614416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04672" y="5820156"/>
            <a:ext cx="640080" cy="640080"/>
          </a:xfrm>
          <a:prstGeom prst="ellipse">
            <a:avLst/>
          </a:prstGeom>
          <a:solidFill>
            <a:srgbClr val="3B0764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04672" y="5820156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960"/>
              <a:buFont typeface="Arial"/>
              <a:buNone/>
            </a:pPr>
            <a:r>
              <a:rPr b="1" i="0" lang="en-US" sz="196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i="0" sz="196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783080" y="5751576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783080" y="6181344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300"/>
              <a:buFont typeface="Calibri"/>
              <a:buNone/>
            </a:pPr>
            <a:r>
              <a:rPr i="1" lang="en-US" sz="1200">
                <a:solidFill>
                  <a:schemeClr val="lt2"/>
                </a:solidFill>
                <a:highlight>
                  <a:srgbClr val="0D1117"/>
                </a:highlight>
              </a:rPr>
              <a:t>Use the dashboards weekly to catch revenue drops and shipping delays early. Check how things are run every week so that you can fix the problem before getting big.</a:t>
            </a:r>
            <a:r>
              <a:rPr i="1" lang="en-US" sz="1100">
                <a:solidFill>
                  <a:schemeClr val="lt2"/>
                </a:solidFill>
              </a:rPr>
              <a:t> </a:t>
            </a:r>
            <a:endParaRPr i="1" sz="13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Overview &amp; Structure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50" y="1619800"/>
            <a:ext cx="3429000" cy="1280100"/>
          </a:xfrm>
          <a:prstGeom prst="roundRect">
            <a:avLst>
              <a:gd fmla="val 6316" name="adj"/>
            </a:avLst>
          </a:prstGeom>
          <a:solidFill>
            <a:srgbClr val="3B0764"/>
          </a:solidFill>
          <a:ln cap="flat" cmpd="sng" w="12700">
            <a:solidFill>
              <a:srgbClr val="3B0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777240" y="205740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49K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77240" y="248847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B4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ORDERS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50" y="3205630"/>
            <a:ext cx="3429000" cy="1503600"/>
          </a:xfrm>
          <a:prstGeom prst="roundRect">
            <a:avLst>
              <a:gd fmla="val 6316" name="adj"/>
            </a:avLst>
          </a:prstGeom>
          <a:solidFill>
            <a:srgbClr val="3B0764"/>
          </a:solidFill>
          <a:ln cap="flat" cmpd="sng" w="12700">
            <a:solidFill>
              <a:srgbClr val="3B0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777240" y="3447288"/>
            <a:ext cx="297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</a:t>
            </a:r>
            <a:r>
              <a:rPr b="1"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14.19M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77240" y="4093899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B4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REVENUE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4850239"/>
            <a:ext cx="3429000" cy="1737300"/>
          </a:xfrm>
          <a:prstGeom prst="roundRect">
            <a:avLst>
              <a:gd fmla="val 6316" name="adj"/>
            </a:avLst>
          </a:prstGeom>
          <a:solidFill>
            <a:srgbClr val="3B0764"/>
          </a:solidFill>
          <a:ln cap="flat" cmpd="sng" w="12700">
            <a:solidFill>
              <a:srgbClr val="3B0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77240" y="5189873"/>
            <a:ext cx="297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$198.2</a:t>
            </a:r>
            <a:r>
              <a:rPr b="1"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96831" y="5842971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B4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PROFIT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343400" y="1874520"/>
            <a:ext cx="7315200" cy="2743200"/>
          </a:xfrm>
          <a:prstGeom prst="roundRect">
            <a:avLst>
              <a:gd fmla="val 4000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617720" y="205740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DIMENSIONS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617720" y="242316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i="0" lang="en-US" sz="13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Supplier   •   Product Category   •   Region   •   Shipping Mode   •   Delivery Status   •   Month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4617720" y="3200400"/>
            <a:ext cx="6766560" cy="0"/>
          </a:xfrm>
          <a:prstGeom prst="straightConnector1">
            <a:avLst/>
          </a:prstGeom>
          <a:noFill/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4617720" y="333756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METRICS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617720" y="370332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i="0" lang="en-US" sz="13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  •   Profit   •   Profit Margin   •   Delivery Time   •   Stock Level   •   Order Quantity   •   Damaged Goods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343400" y="4800600"/>
            <a:ext cx="7315200" cy="1280160"/>
          </a:xfrm>
          <a:prstGeom prst="roundRect">
            <a:avLst>
              <a:gd fmla="val 8571" name="adj"/>
            </a:avLst>
          </a:prstGeom>
          <a:solidFill>
            <a:srgbClr val="1F1730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617720" y="498348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50"/>
              <a:buFont typeface="Calibri"/>
              <a:buNone/>
            </a:pPr>
            <a:r>
              <a:rPr b="1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-US" sz="135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 dataset forms the foundation for every insight in this report — spanning delivery performance, profitability, and inventory health across Globamart's supplier network.</a:t>
            </a:r>
            <a:endParaRPr b="1" sz="135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4E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4E6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CHAIN DASHBOARD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Performance Overview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874520"/>
            <a:ext cx="5394960" cy="1417320"/>
          </a:xfrm>
          <a:prstGeom prst="roundRect">
            <a:avLst>
              <a:gd fmla="val 7742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77240" y="210312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777240" y="2103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07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234440" y="2039112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 Delivery by Supplier</a:t>
            </a:r>
            <a:endParaRPr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4440" y="244144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Sahlagoods SA and Globatrade NG have the highest late deliveries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217920" y="1874520"/>
            <a:ext cx="5394960" cy="1417320"/>
          </a:xfrm>
          <a:prstGeom prst="roundRect">
            <a:avLst>
              <a:gd fmla="val 7742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446520" y="210312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446520" y="2103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07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903720" y="2039112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On-Time Rate by Shipping Mode</a:t>
            </a:r>
            <a:endParaRPr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903720" y="244144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 shipping has the highest On-Time Rate; Overnight has the lowest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640" y="3520440"/>
            <a:ext cx="5394960" cy="1417320"/>
          </a:xfrm>
          <a:prstGeom prst="roundRect">
            <a:avLst>
              <a:gd fmla="val 7742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77240" y="374904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77240" y="37490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07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234440" y="3685032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Trend</a:t>
            </a:r>
            <a:endParaRPr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234440" y="408736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performance fluctuates — average shipping time peaks in some months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217920" y="3520440"/>
            <a:ext cx="5394960" cy="1417320"/>
          </a:xfrm>
          <a:prstGeom prst="roundRect">
            <a:avLst>
              <a:gd fmla="val 7742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446520" y="374904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446520" y="37490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903720" y="3685032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Damaged Goods</a:t>
            </a:r>
            <a:endParaRPr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903720" y="408736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AFC4"/>
                </a:solidFill>
                <a:latin typeface="Calibri"/>
                <a:ea typeface="Calibri"/>
                <a:cs typeface="Calibri"/>
                <a:sym typeface="Calibri"/>
              </a:rPr>
              <a:t>Health &amp; Beauty, Home Appliances, and Industrial Equipment have the highest damage rates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fmla="val 16000" name="adj"/>
            </a:avLst>
          </a:prstGeom>
          <a:solidFill>
            <a:srgbClr val="3B0764"/>
          </a:solidFill>
          <a:ln cap="flat" cmpd="sng" w="12700">
            <a:solidFill>
              <a:srgbClr val="3B0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  </a:t>
            </a:r>
            <a:r>
              <a:rPr i="0" lang="en-US" u="none" cap="none" strike="noStrike">
                <a:solidFill>
                  <a:srgbClr val="EDE4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out of 3 deliveries are late. Shipping mode and supplier selection are </a:t>
            </a:r>
            <a:r>
              <a:rPr lang="en-US">
                <a:solidFill>
                  <a:srgbClr val="EDE4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worst</a:t>
            </a:r>
            <a:r>
              <a:rPr i="0" lang="en-US" u="none" cap="none" strike="noStrike">
                <a:solidFill>
                  <a:srgbClr val="EDE4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DASHBOARD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Profitability Analysis Insights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48640" y="1874520"/>
            <a:ext cx="3017520" cy="4434840"/>
          </a:xfrm>
          <a:prstGeom prst="roundRect">
            <a:avLst>
              <a:gd fmla="val 3636" name="adj"/>
            </a:avLst>
          </a:prstGeom>
          <a:solidFill>
            <a:srgbClr val="3B0764"/>
          </a:solidFill>
          <a:ln cap="flat" cmpd="sng" w="12700">
            <a:solidFill>
              <a:srgbClr val="3B0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777240" y="21488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B4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PROFIT MARGIN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777240" y="260604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</a:t>
            </a:r>
            <a:r>
              <a:rPr b="1" i="0" lang="en-US" sz="4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b="1" lang="en-US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</a:t>
            </a:r>
            <a:r>
              <a:rPr b="1" i="0" lang="en-US" sz="4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endParaRPr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777240" y="3749040"/>
            <a:ext cx="2331720" cy="0"/>
          </a:xfrm>
          <a:prstGeom prst="straightConnector1">
            <a:avLst/>
          </a:prstGeom>
          <a:noFill/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8"/>
          <p:cNvSpPr/>
          <p:nvPr/>
        </p:nvSpPr>
        <p:spPr>
          <a:xfrm>
            <a:off x="777240" y="39776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4FB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EDE4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Southern Africa &amp; East Africa contribute most to profit.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77240" y="493776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4FB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EDE4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Globatrade Co leads profit contribution, followed by Fastrack Logistics.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840480" y="1874520"/>
            <a:ext cx="3840480" cy="2084832"/>
          </a:xfrm>
          <a:prstGeom prst="roundRect">
            <a:avLst>
              <a:gd fmla="val 5263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069080" y="207568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50"/>
              <a:buFont typeface="Calibri"/>
              <a:buNone/>
            </a:pPr>
            <a:r>
              <a:rPr b="1" i="0" lang="en-US" sz="15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by Category</a:t>
            </a:r>
            <a:endParaRPr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069080" y="274320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00"/>
              <a:buFont typeface="Calibri"/>
              <a:buNone/>
            </a:pPr>
            <a:r>
              <a:rPr b="1"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&amp; Beauty and Clothing generate the highest revenue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936992" y="1874520"/>
            <a:ext cx="3840480" cy="2084832"/>
          </a:xfrm>
          <a:prstGeom prst="roundRect">
            <a:avLst>
              <a:gd fmla="val 5263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8165592" y="207568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50"/>
              <a:buFont typeface="Calibri"/>
              <a:buNone/>
            </a:pPr>
            <a:r>
              <a:rPr b="1" i="0" lang="en-US" sz="15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Margin by Category</a:t>
            </a:r>
            <a:endParaRPr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165592" y="274320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&amp; Beauty and Sports &amp; Fitness have the highest margins</a:t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840480" y="4215384"/>
            <a:ext cx="3840480" cy="2084832"/>
          </a:xfrm>
          <a:prstGeom prst="roundRect">
            <a:avLst>
              <a:gd fmla="val 5263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069080" y="441655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50"/>
              <a:buFont typeface="Calibri"/>
              <a:buNone/>
            </a:pPr>
            <a:r>
              <a:rPr b="1" i="0" lang="en-US" sz="15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10 Suppliers by Profit</a:t>
            </a:r>
            <a:endParaRPr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069080" y="5084064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00"/>
              <a:buFont typeface="Calibri"/>
              <a:buNone/>
            </a:pPr>
            <a:r>
              <a:rPr b="1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Globatrade Co leads, followed by Fastrack Logistics</a:t>
            </a:r>
            <a:endParaRPr b="1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936992" y="4215384"/>
            <a:ext cx="3840480" cy="2084832"/>
          </a:xfrm>
          <a:prstGeom prst="roundRect">
            <a:avLst>
              <a:gd fmla="val 5263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165592" y="441655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50"/>
              <a:buFont typeface="Calibri"/>
              <a:buNone/>
            </a:pPr>
            <a:r>
              <a:rPr b="1" i="0" lang="en-US" sz="15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by Region</a:t>
            </a:r>
            <a:endParaRPr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165592" y="5084064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00"/>
              <a:buFont typeface="Calibri"/>
              <a:buNone/>
            </a:pPr>
            <a:r>
              <a:rPr b="1"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Southern Africa and East Africa contribute most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HEALTH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Optimization Insights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48640" y="1965960"/>
            <a:ext cx="6766560" cy="4023360"/>
          </a:xfrm>
          <a:prstGeom prst="roundRect">
            <a:avLst>
              <a:gd fmla="val 2727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960" y="214884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LEVEL vs. ORDER QUANTITY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143000" y="3072384"/>
            <a:ext cx="548640" cy="2551176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1828800" y="4829861"/>
            <a:ext cx="548640" cy="793699"/>
          </a:xfrm>
          <a:prstGeom prst="roundRect">
            <a:avLst>
              <a:gd fmla="val 10000" name="adj"/>
            </a:avLst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744583" y="5773783"/>
            <a:ext cx="1981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0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&amp; Beauty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215640" y="3072384"/>
            <a:ext cx="548640" cy="2551176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3901440" y="4829861"/>
            <a:ext cx="548640" cy="793699"/>
          </a:xfrm>
          <a:prstGeom prst="roundRect">
            <a:avLst>
              <a:gd fmla="val 10000" name="adj"/>
            </a:avLst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2895600" y="5793377"/>
            <a:ext cx="1981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0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Appliances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288280" y="3072384"/>
            <a:ext cx="548640" cy="2551176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974080" y="4829861"/>
            <a:ext cx="548640" cy="793699"/>
          </a:xfrm>
          <a:prstGeom prst="roundRect">
            <a:avLst>
              <a:gd fmla="val 10000" name="adj"/>
            </a:avLst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4968240" y="5793377"/>
            <a:ext cx="1981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10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&amp; Beverages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22960" y="5605272"/>
            <a:ext cx="228600" cy="228600"/>
          </a:xfrm>
          <a:prstGeom prst="roundRect">
            <a:avLst>
              <a:gd fmla="val 16000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1115568" y="55686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i="0" lang="en-US" sz="14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Quantity</a:t>
            </a:r>
            <a:endParaRPr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2926080" y="5605272"/>
            <a:ext cx="228600" cy="228600"/>
          </a:xfrm>
          <a:prstGeom prst="roundRect">
            <a:avLst>
              <a:gd fmla="val 16000" name="adj"/>
            </a:avLst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3218688" y="55686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i="0" lang="en-US" sz="13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Level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589520" y="1965960"/>
            <a:ext cx="4023360" cy="1965960"/>
          </a:xfrm>
          <a:prstGeom prst="roundRect">
            <a:avLst>
              <a:gd fmla="val 5581" name="adj"/>
            </a:avLst>
          </a:prstGeom>
          <a:solidFill>
            <a:srgbClr val="3B0764"/>
          </a:solidFill>
          <a:ln cap="flat" cmpd="sng" w="12700">
            <a:solidFill>
              <a:srgbClr val="3B0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863840" y="2148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D8B4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863840" y="251460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i="0" lang="en-US" sz="13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product categories, Order Quantity is much higher than Stock Level.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7589520" y="4114800"/>
            <a:ext cx="4023360" cy="1874520"/>
          </a:xfrm>
          <a:prstGeom prst="roundRect">
            <a:avLst>
              <a:gd fmla="val 5854" name="adj"/>
            </a:avLst>
          </a:prstGeom>
          <a:solidFill>
            <a:srgbClr val="1F1730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7863840" y="4297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863840" y="466344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30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&amp; Beauty, Home Appliances, and Food &amp; Beverages have the biggest gaps.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548640" y="516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 DATA SHOWS OVER TIME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Trends &amp; Patterns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48640" y="1920240"/>
            <a:ext cx="5394960" cy="1965960"/>
          </a:xfrm>
          <a:prstGeom prst="roundRect">
            <a:avLst>
              <a:gd fmla="val 5581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3B0764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40"/>
              <a:buFont typeface="Arial"/>
              <a:buNone/>
            </a:pPr>
            <a:r>
              <a:rPr b="1" i="0" lang="en-US" sz="154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 i="0" sz="154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554480" y="217627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Trend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68680" y="28346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revenue shows a gradual decline from March to May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217920" y="1920240"/>
            <a:ext cx="5394960" cy="1965960"/>
          </a:xfrm>
          <a:prstGeom prst="roundRect">
            <a:avLst>
              <a:gd fmla="val 5581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3B0764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49224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40"/>
              <a:buFont typeface="Arial"/>
              <a:buNone/>
            </a:pPr>
            <a:r>
              <a:rPr b="1" i="0" lang="en-US" sz="154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 i="0" sz="154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7223760" y="217627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Trend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537960" y="28346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On-Time % drops in some months while Average Shipping Time increases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" y="4114800"/>
            <a:ext cx="5394960" cy="1965960"/>
          </a:xfrm>
          <a:prstGeom prst="roundRect">
            <a:avLst>
              <a:gd fmla="val 5581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3B0764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40"/>
              <a:buFont typeface="Arial"/>
              <a:buNone/>
            </a:pPr>
            <a:r>
              <a:rPr b="1" i="0" lang="en-US" sz="154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 i="0" sz="154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554480" y="437083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 Pattern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868680" y="50292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High-revenue categories also tend to have higher damage rates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217920" y="4114800"/>
            <a:ext cx="5394960" cy="1965960"/>
          </a:xfrm>
          <a:prstGeom prst="roundRect">
            <a:avLst>
              <a:gd fmla="val 5581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492240" y="4389120"/>
            <a:ext cx="502920" cy="502920"/>
          </a:xfrm>
          <a:prstGeom prst="ellipse">
            <a:avLst/>
          </a:prstGeom>
          <a:solidFill>
            <a:srgbClr val="3B0764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6492240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40"/>
              <a:buFont typeface="Arial"/>
              <a:buNone/>
            </a:pPr>
            <a:r>
              <a:rPr b="1" i="0" lang="en-US" sz="154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 i="0" sz="154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7223760" y="437083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Pattern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537960" y="50292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FC4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B8AF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Southern and East Africa drive both profit and order volume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TURNING INSIGHT INTO ACTION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Recommendations &amp; Next Steps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548640" y="1828800"/>
            <a:ext cx="7315200" cy="658368"/>
          </a:xfrm>
          <a:prstGeom prst="roundRect">
            <a:avLst>
              <a:gd fmla="val 16667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31520" y="1993392"/>
            <a:ext cx="329184" cy="3291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731520" y="19933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71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1234440" y="1828800"/>
            <a:ext cx="640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5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Delivery:  </a:t>
            </a:r>
            <a:r>
              <a:rPr lang="en-US" sz="1300">
                <a:solidFill>
                  <a:srgbClr val="F0F6FC"/>
                </a:solidFill>
                <a:highlight>
                  <a:srgbClr val="0D1117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Shift more volume to </a:t>
            </a:r>
            <a:r>
              <a:rPr lang="en-US" sz="1300">
                <a:solidFill>
                  <a:srgbClr val="F0F6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</a:t>
            </a:r>
            <a:r>
              <a:rPr lang="en-US" sz="1300">
                <a:solidFill>
                  <a:srgbClr val="F0F6FC"/>
                </a:solidFill>
                <a:highlight>
                  <a:srgbClr val="0D1117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shipping. Address the Late suppliers and send more orders via express and late comers should be penalized.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48640" y="2615184"/>
            <a:ext cx="7315200" cy="658368"/>
          </a:xfrm>
          <a:prstGeom prst="roundRect">
            <a:avLst>
              <a:gd fmla="val 16667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731520" y="2779776"/>
            <a:ext cx="329184" cy="3291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31520" y="27797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7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234440" y="2615184"/>
            <a:ext cx="640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50"/>
              <a:buFont typeface="Calibri"/>
              <a:buNone/>
            </a:pPr>
            <a:r>
              <a:rPr b="1" i="0" lang="en-US" sz="13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Quality:  </a:t>
            </a:r>
            <a:r>
              <a:rPr i="0" lang="en-US" sz="13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packaging for Health &amp; Beauty and Industrial Equipment to reduce 21K damaged goods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48640" y="3401568"/>
            <a:ext cx="7315200" cy="658368"/>
          </a:xfrm>
          <a:prstGeom prst="roundRect">
            <a:avLst>
              <a:gd fmla="val 16667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731520" y="3566160"/>
            <a:ext cx="329184" cy="3291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731520" y="35661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71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234440" y="3401568"/>
            <a:ext cx="640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50"/>
              <a:buFont typeface="Calibri"/>
              <a:buNone/>
            </a:pPr>
            <a:r>
              <a:rPr b="1" i="0" lang="en-US" sz="13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Inventory:  </a:t>
            </a:r>
            <a:r>
              <a:rPr lang="en-US" sz="1350">
                <a:solidFill>
                  <a:srgbClr val="F0F6FC"/>
                </a:solidFill>
                <a:highlight>
                  <a:srgbClr val="0D1117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Increase inventory for high-demand categories to close the gap between </a:t>
            </a:r>
            <a:r>
              <a:rPr lang="en-US" sz="1350">
                <a:solidFill>
                  <a:srgbClr val="F0F6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Orders</a:t>
            </a:r>
            <a:r>
              <a:rPr lang="en-US" sz="1350">
                <a:solidFill>
                  <a:srgbClr val="F0F6FC"/>
                </a:solidFill>
                <a:highlight>
                  <a:srgbClr val="0D1117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350">
                <a:solidFill>
                  <a:srgbClr val="F0F6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</a:t>
            </a:r>
            <a:r>
              <a:rPr lang="en-US" sz="1350">
                <a:solidFill>
                  <a:srgbClr val="F0F6FC"/>
                </a:solidFill>
                <a:highlight>
                  <a:srgbClr val="0D1117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Buy more stock before running out and lose sales.</a:t>
            </a: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48640" y="4187952"/>
            <a:ext cx="7315200" cy="658368"/>
          </a:xfrm>
          <a:prstGeom prst="roundRect">
            <a:avLst>
              <a:gd fmla="val 16667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731520" y="4352544"/>
            <a:ext cx="329184" cy="3291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731520" y="435254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7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1234440" y="4187952"/>
            <a:ext cx="640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50"/>
              <a:buFont typeface="Calibri"/>
              <a:buNone/>
            </a:pPr>
            <a:r>
              <a:rPr b="1" i="0" lang="en-US" sz="13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Profit:  </a:t>
            </a:r>
            <a:r>
              <a:rPr i="0" lang="en-US" sz="13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down on Health &amp; Beauty and Southern/East Africa regions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48640" y="4974336"/>
            <a:ext cx="7315200" cy="658368"/>
          </a:xfrm>
          <a:prstGeom prst="roundRect">
            <a:avLst>
              <a:gd fmla="val 16667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731520" y="5138928"/>
            <a:ext cx="329184" cy="3291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7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71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234440" y="4974336"/>
            <a:ext cx="640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50"/>
              <a:buFont typeface="Calibri"/>
              <a:buNone/>
            </a:pPr>
            <a:r>
              <a:rPr b="1" i="0" lang="en-US" sz="135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Monitoring:  </a:t>
            </a:r>
            <a:r>
              <a:rPr i="0" lang="en-US" sz="13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monthly revenue and shipping time to catch declines early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8412480" y="25603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710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3B076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22960" y="1600200"/>
            <a:ext cx="10241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i="0" lang="en-US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Globamart's supply chain faces challenges with late deliveries, low inventory, and product damage — but strong profit margins and high-performing regions present real growth opportunities.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822960" y="3429000"/>
            <a:ext cx="10241280" cy="2148840"/>
          </a:xfrm>
          <a:prstGeom prst="roundRect">
            <a:avLst>
              <a:gd fmla="val 5106" name="adj"/>
            </a:avLst>
          </a:prstGeom>
          <a:solidFill>
            <a:srgbClr val="17111F"/>
          </a:solidFill>
          <a:ln cap="flat" cmpd="sng" w="12700">
            <a:solidFill>
              <a:srgbClr val="2A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1051550" y="3429000"/>
            <a:ext cx="96012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700"/>
              <a:buFont typeface="Calibri"/>
              <a:buNone/>
            </a:pPr>
            <a:r>
              <a:rPr b="1" lang="en-US" sz="1200">
                <a:solidFill>
                  <a:srgbClr val="F0F6FC"/>
                </a:solidFill>
                <a:highlight>
                  <a:srgbClr val="0D1117"/>
                </a:highlight>
              </a:rPr>
              <a:t>Globamart doesn’t have a sales problem. It has an </a:t>
            </a:r>
            <a:r>
              <a:rPr b="1" i="1" lang="en-US" sz="1200">
                <a:solidFill>
                  <a:srgbClr val="F0F6FC"/>
                </a:solidFill>
                <a:highlight>
                  <a:srgbClr val="0D1117"/>
                </a:highlight>
              </a:rPr>
              <a:t>operational problem</a:t>
            </a:r>
            <a:r>
              <a:rPr b="1" lang="en-US" sz="1200">
                <a:solidFill>
                  <a:srgbClr val="F0F6FC"/>
                </a:solidFill>
                <a:highlight>
                  <a:srgbClr val="0D1117"/>
                </a:highlight>
              </a:rPr>
              <a:t>.</a:t>
            </a:r>
            <a:endParaRPr b="1" sz="12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F0F6FC"/>
                </a:solidFill>
                <a:highlight>
                  <a:srgbClr val="0D1117"/>
                </a:highlight>
              </a:rPr>
              <a:t>Fix delivery speed, inventory planning, and product quality — and that $714M revenue can turn into even more profit and happier customers.</a:t>
            </a:r>
            <a:endParaRPr b="1" sz="12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700"/>
              <a:buFont typeface="Calibri"/>
              <a:buNone/>
            </a:pPr>
            <a:r>
              <a:t/>
            </a:r>
            <a:endParaRPr b="1" i="1" sz="1700">
              <a:solidFill>
                <a:srgbClr val="D8B4F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